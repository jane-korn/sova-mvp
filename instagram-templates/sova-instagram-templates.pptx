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0" r:id="rId4"/>
    <p:sldId id="259" r:id="rId5"/>
    <p:sldId id="258" r:id="rId6"/>
    <p:sldId id="262" r:id="rId7"/>
  </p:sldIdLst>
  <p:sldSz cx="9144000" cy="9144000"/>
  <p:notesSz cx="9144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2828"/>
    <a:srgbClr val="E1FE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7" d="100"/>
          <a:sy n="47" d="100"/>
        </p:scale>
        <p:origin x="184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7641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1: Dark - Full Logo &amp; Lines
To add text:
1. Insert &gt; Text Box
2. Type your content
3. Format using Sova brand colors:
   - Light green: #eaffc4 (for dark backgrounds)
   - Brown: #2d2828 (for light backgrounds)
   - Sage: #b8d78f (accent)
   - Cream: #f5f5dc
4. Recommended font: Montserrat
To export as 1080x1080px image:
1. File &gt; Export &gt; Change File Type &gt; PNG
2. Choose "Just This One" for current slide
3. Image will be 1080x1080px, ready for Instagram!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2: Light - Brown Logo &amp; Lines
To add text:
1. Insert &gt; Text Box
2. Type your content
3. Format using Sova brand colors:
   - Light green: #eaffc4 (for dark backgrounds)
   - Brown: #2d2828 (for light backgrounds)
   - Sage: #b8d78f (accent)
   - Cream: #f5f5dc
4. Recommended font: Montserrat
To export as 1080x1080px image:
1. File &gt; Export &gt; Change File Type &gt; PNG
2. Choose "Just This One" for current slide
3. Image will be 1080x1080px, ready for Instagram!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390A5-6DB4-AFAE-D705-EB3589551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964533-420C-A12C-F214-1CCD6E48BA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3BBC3B-2DFF-585D-E510-733D27CED5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1: Dark - Full Logo &amp; Lines
To add text:
1. Insert &gt; Text Box
2. Type your content
3. Format using Sova brand colors:
   - Light green: #eaffc4 (for dark backgrounds)
   - Brown: #2d2828 (for light backgrounds)
   - Sage: #b8d78f (accent)
   - Cream: #f5f5dc
4. Recommended font: Montserrat
To export as 1080x1080px image:
1. File &gt; Export &gt; Change File Type &gt; PNG
2. Choose "Just This One" for current slide
3. Image will be 1080x1080px, ready for Instagram!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5297B9-B5AA-A7B5-76E7-BF0E6A1160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9132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4: Light - Large Bird Watermark (Brown)
To add text:
1. Insert &gt; Text Box
2. Type your content
3. Format using Sova brand colors:
   - Light green: #eaffc4 (for dark backgrounds)
   - Brown: #2d2828 (for light backgrounds)
   - Sage: #b8d78f (accent)
   - Cream: #f5f5dc
4. Recommended font: Montserrat
To export as 1080x1080px image:
1. File &gt; Export &gt; Change File Type &gt; PNG
2. Choose "Just This One" for current slide
3. Image will be 1080x1080px, ready for Instagram!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3: Dark - Large Bird Watermark
To add text:
1. Insert &gt; Text Box
2. Type your content
3. Format using Sova brand colors:
   - Light green: #eaffc4 (for dark backgrounds)
   - Brown: #2d2828 (for light backgrounds)
   - Sage: #b8d78f (accent)
   - Cream: #f5f5dc
4. Recommended font: Montserrat
To export as 1080x1080px image:
1. File &gt; Export &gt; Change File Type &gt; PNG
2. Choose "Just This One" for current slide
3. Image will be 1080x1080px, ready for Instagram!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8CF26-7DE7-8176-504C-3EF5611F5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A8A10A-7879-9524-90E4-C21FB82B86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94BB30-0395-F703-7595-2B7DEC9CF8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4: Light - Large Bird Watermark (Brown)
To add text:
1. Insert &gt; Text Box
2. Type your content
3. Format using Sova brand colors:
   - Light green: #eaffc4 (for dark backgrounds)
   - Brown: #2d2828 (for light backgrounds)
   - Sage: #b8d78f (accent)
   - Cream: #f5f5dc
4. Recommended font: Montserrat
To export as 1080x1080px image:
1. File &gt; Export &gt; Change File Type &gt; PNG
2. Choose "Just This One" for current slide
3. Image will be 1080x1080px, ready for Instagram!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5B34B-65A1-0138-6543-E161BB31FD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9414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janek/sova-mvp/instagram-templates/blank_template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9144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3313086-0EFF-6D29-6963-C31327A6748E}"/>
              </a:ext>
            </a:extLst>
          </p:cNvPr>
          <p:cNvSpPr txBox="1"/>
          <p:nvPr/>
        </p:nvSpPr>
        <p:spPr>
          <a:xfrm>
            <a:off x="2146852" y="2063621"/>
            <a:ext cx="471777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E1FEC2"/>
                </a:solidFill>
                <a:latin typeface="Montserrat" pitchFamily="2" charset="0"/>
              </a:rPr>
              <a:t>In Australia, nearly 450,000 businesses are registered annually but one in five close in their first year and 60% within three. </a:t>
            </a:r>
          </a:p>
          <a:p>
            <a:endParaRPr lang="en-US" sz="3600" dirty="0">
              <a:solidFill>
                <a:srgbClr val="E1FEC2"/>
              </a:solidFill>
              <a:latin typeface="Montserrat" pitchFamily="2" charset="0"/>
            </a:endParaRPr>
          </a:p>
          <a:p>
            <a:pPr algn="r"/>
            <a:r>
              <a:rPr lang="en-US" sz="3200" dirty="0">
                <a:solidFill>
                  <a:srgbClr val="E1FEC2"/>
                </a:solidFill>
                <a:latin typeface="Montserrat" pitchFamily="2" charset="0"/>
              </a:rPr>
              <a:t>ABS, 2024; ASIC, 2025</a:t>
            </a:r>
            <a:endParaRPr lang="en-AU" sz="3200" dirty="0">
              <a:solidFill>
                <a:srgbClr val="E1FEC2"/>
              </a:solidFill>
              <a:latin typeface="Montserrat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janek/sova-mvp/instagram-templates/blank_template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9144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D59E50C-4D11-CD3F-151E-CBFA634433BF}"/>
              </a:ext>
            </a:extLst>
          </p:cNvPr>
          <p:cNvSpPr txBox="1"/>
          <p:nvPr/>
        </p:nvSpPr>
        <p:spPr>
          <a:xfrm>
            <a:off x="2067339" y="1577009"/>
            <a:ext cx="5062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>
              <a:solidFill>
                <a:srgbClr val="2D2828"/>
              </a:solidFill>
              <a:latin typeface="Montserrat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97DB7A-E8D5-0D37-B02E-05C1EFBDDBE8}"/>
              </a:ext>
            </a:extLst>
          </p:cNvPr>
          <p:cNvSpPr txBox="1"/>
          <p:nvPr/>
        </p:nvSpPr>
        <p:spPr>
          <a:xfrm>
            <a:off x="1736529" y="1755844"/>
            <a:ext cx="5670941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Montserrat" pitchFamily="2" charset="0"/>
              </a:rPr>
              <a:t>Almost 48% of new Australian businesses fail within their first four years, and only 77% survive the first 12 months. </a:t>
            </a:r>
          </a:p>
          <a:p>
            <a:endParaRPr lang="en-US" sz="4000" dirty="0">
              <a:latin typeface="Montserrat" pitchFamily="2" charset="0"/>
            </a:endParaRPr>
          </a:p>
          <a:p>
            <a:pPr algn="r"/>
            <a:r>
              <a:rPr lang="en-US" sz="4000" dirty="0">
                <a:latin typeface="Montserrat" pitchFamily="2" charset="0"/>
              </a:rPr>
              <a:t>Inside Small Business, 2022</a:t>
            </a:r>
            <a:endParaRPr lang="en-AU" sz="3600" dirty="0">
              <a:solidFill>
                <a:srgbClr val="2D2828"/>
              </a:solidFill>
              <a:latin typeface="Montserrat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55562-71CC-1A4A-F456-E965FB523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janek/sova-mvp/instagram-templates/blank_template_dark.png">
            <a:extLst>
              <a:ext uri="{FF2B5EF4-FFF2-40B4-BE49-F238E27FC236}">
                <a16:creationId xmlns:a16="http://schemas.microsoft.com/office/drawing/2014/main" id="{4FC19FA5-1289-B9F5-EB2C-5BD99B8E28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9144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421FC2D-CC2E-F1FC-927D-4EF78D50A104}"/>
              </a:ext>
            </a:extLst>
          </p:cNvPr>
          <p:cNvSpPr txBox="1"/>
          <p:nvPr/>
        </p:nvSpPr>
        <p:spPr>
          <a:xfrm>
            <a:off x="1946882" y="1763370"/>
            <a:ext cx="5250235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dirty="0">
                <a:solidFill>
                  <a:srgbClr val="E1FEC2"/>
                </a:solidFill>
                <a:latin typeface="Montserrat" pitchFamily="2" charset="0"/>
              </a:rPr>
              <a:t>Startup founders need to understand the reasons that startups fail and implement all necessary measures to avoid the pitfalls that most businesses encounter.</a:t>
            </a:r>
          </a:p>
          <a:p>
            <a:endParaRPr lang="en-US" sz="3400" dirty="0">
              <a:solidFill>
                <a:srgbClr val="E1FEC2"/>
              </a:solidFill>
              <a:latin typeface="Montserrat" pitchFamily="2" charset="0"/>
            </a:endParaRPr>
          </a:p>
          <a:p>
            <a:pPr algn="r"/>
            <a:r>
              <a:rPr lang="en-US" sz="3400" dirty="0">
                <a:solidFill>
                  <a:srgbClr val="E1FEC2"/>
                </a:solidFill>
                <a:latin typeface="Montserrat" pitchFamily="2" charset="0"/>
              </a:rPr>
              <a:t>Exploding Topics, 2025</a:t>
            </a:r>
          </a:p>
        </p:txBody>
      </p:sp>
    </p:spTree>
    <p:extLst>
      <p:ext uri="{BB962C8B-B14F-4D97-AF65-F5344CB8AC3E}">
        <p14:creationId xmlns:p14="http://schemas.microsoft.com/office/powerpoint/2010/main" val="1928952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janek/sova-mvp/sova-logo-icon-brown-transparent.png"/>
          <p:cNvPicPr>
            <a:picLocks noChangeAspect="1"/>
          </p:cNvPicPr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>
            <a:off x="5384042" y="4408227"/>
            <a:ext cx="2743200" cy="356616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6D313A6-7921-BABE-D90B-1803602B6FAA}"/>
              </a:ext>
            </a:extLst>
          </p:cNvPr>
          <p:cNvSpPr txBox="1"/>
          <p:nvPr/>
        </p:nvSpPr>
        <p:spPr>
          <a:xfrm>
            <a:off x="2067339" y="1577009"/>
            <a:ext cx="5062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>
              <a:solidFill>
                <a:srgbClr val="2D2828"/>
              </a:solidFill>
              <a:latin typeface="Montserrat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5825F8-6EC5-5045-1EB4-F5B9A0E71D88}"/>
              </a:ext>
            </a:extLst>
          </p:cNvPr>
          <p:cNvSpPr txBox="1"/>
          <p:nvPr/>
        </p:nvSpPr>
        <p:spPr>
          <a:xfrm>
            <a:off x="1736529" y="832515"/>
            <a:ext cx="5670941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Montserrat" pitchFamily="2" charset="0"/>
              </a:rPr>
              <a:t>If you’re launching a business, the odds are against you: Two-thirds of start-ups never show a positive return.	</a:t>
            </a:r>
          </a:p>
          <a:p>
            <a:endParaRPr lang="en-US" sz="4800" dirty="0">
              <a:latin typeface="Montserrat" pitchFamily="2" charset="0"/>
            </a:endParaRPr>
          </a:p>
          <a:p>
            <a:pPr algn="r"/>
            <a:r>
              <a:rPr lang="en-US" sz="4800" dirty="0">
                <a:latin typeface="Montserrat" pitchFamily="2" charset="0"/>
              </a:rPr>
              <a:t>HBR, 2021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D2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janek/sova-mvp/sova-logo-icon-transparent.png"/>
          <p:cNvPicPr>
            <a:picLocks noChangeAspect="1"/>
          </p:cNvPicPr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>
            <a:off x="5356747" y="4346813"/>
            <a:ext cx="2743200" cy="356616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26B2064-ABA3-D704-28D1-3B79885DBFDF}"/>
              </a:ext>
            </a:extLst>
          </p:cNvPr>
          <p:cNvSpPr txBox="1"/>
          <p:nvPr/>
        </p:nvSpPr>
        <p:spPr>
          <a:xfrm>
            <a:off x="2067339" y="1577009"/>
            <a:ext cx="5062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>
              <a:solidFill>
                <a:srgbClr val="E1FEC2"/>
              </a:solidFill>
              <a:latin typeface="Montserrat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095C37-0F9F-5D06-1167-CB619AEC0457}"/>
              </a:ext>
            </a:extLst>
          </p:cNvPr>
          <p:cNvSpPr txBox="1"/>
          <p:nvPr/>
        </p:nvSpPr>
        <p:spPr>
          <a:xfrm>
            <a:off x="1856787" y="1530657"/>
            <a:ext cx="543042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E1FEC2"/>
                </a:solidFill>
                <a:latin typeface="Montserrat" pitchFamily="2" charset="0"/>
              </a:rPr>
              <a:t>Startup founders need to understand the reasons that startups fail and implement all necessary measures to avoid the pitfalls that most businesses encounter.	</a:t>
            </a:r>
          </a:p>
          <a:p>
            <a:endParaRPr lang="en-US" sz="3600" dirty="0">
              <a:solidFill>
                <a:srgbClr val="E1FEC2"/>
              </a:solidFill>
              <a:latin typeface="Montserrat" pitchFamily="2" charset="0"/>
            </a:endParaRPr>
          </a:p>
          <a:p>
            <a:r>
              <a:rPr lang="en-US" sz="3600" dirty="0">
                <a:solidFill>
                  <a:srgbClr val="E1FEC2"/>
                </a:solidFill>
                <a:latin typeface="Montserrat" pitchFamily="2" charset="0"/>
              </a:rPr>
              <a:t>Exploding Topics, 2025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D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EA3655-9537-1A3A-F81D-4FF71B021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janek/sova-mvp/sova-logo-icon-brown-transparent.png">
            <a:extLst>
              <a:ext uri="{FF2B5EF4-FFF2-40B4-BE49-F238E27FC236}">
                <a16:creationId xmlns:a16="http://schemas.microsoft.com/office/drawing/2014/main" id="{2EA50260-6CA6-8CB3-59DE-6D4DDC4585C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>
            <a:off x="5384042" y="4408227"/>
            <a:ext cx="2743200" cy="356616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F9952E-664C-ABA4-9397-398B97DA7664}"/>
              </a:ext>
            </a:extLst>
          </p:cNvPr>
          <p:cNvSpPr txBox="1"/>
          <p:nvPr/>
        </p:nvSpPr>
        <p:spPr>
          <a:xfrm>
            <a:off x="2067339" y="1577009"/>
            <a:ext cx="5062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>
              <a:solidFill>
                <a:srgbClr val="2D2828"/>
              </a:solidFill>
              <a:latin typeface="Montserrat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3281EB-4D1A-2C5B-3F87-AADAA1C9407B}"/>
              </a:ext>
            </a:extLst>
          </p:cNvPr>
          <p:cNvSpPr txBox="1"/>
          <p:nvPr/>
        </p:nvSpPr>
        <p:spPr>
          <a:xfrm>
            <a:off x="1763033" y="1017180"/>
            <a:ext cx="5670941" cy="7109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800" dirty="0">
                <a:latin typeface="Montserrat" pitchFamily="2" charset="0"/>
              </a:rPr>
              <a:t>By understanding common pitfalls and having a plan in place for how to mitigate them, entrepreneurs can increase their chances of creating successful businesses and reaching their goals.	</a:t>
            </a:r>
          </a:p>
          <a:p>
            <a:endParaRPr lang="en-US" sz="3800" dirty="0">
              <a:latin typeface="Montserrat" pitchFamily="2" charset="0"/>
            </a:endParaRPr>
          </a:p>
          <a:p>
            <a:pPr algn="r"/>
            <a:r>
              <a:rPr lang="en-US" sz="3800" dirty="0">
                <a:latin typeface="Montserrat" pitchFamily="2" charset="0"/>
              </a:rPr>
              <a:t>HubSpot, 2023</a:t>
            </a:r>
          </a:p>
        </p:txBody>
      </p:sp>
    </p:spTree>
    <p:extLst>
      <p:ext uri="{BB962C8B-B14F-4D97-AF65-F5344CB8AC3E}">
        <p14:creationId xmlns:p14="http://schemas.microsoft.com/office/powerpoint/2010/main" val="14570533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965</Words>
  <Application>Microsoft Office PowerPoint</Application>
  <PresentationFormat>Custom</PresentationFormat>
  <Paragraphs>30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Instagram Post Templates</dc:title>
  <dc:subject>PptxGenJS Presentation</dc:subject>
  <dc:creator>Sova</dc:creator>
  <cp:lastModifiedBy>Jane Korneyko</cp:lastModifiedBy>
  <cp:revision>3</cp:revision>
  <dcterms:created xsi:type="dcterms:W3CDTF">2025-11-24T06:17:58Z</dcterms:created>
  <dcterms:modified xsi:type="dcterms:W3CDTF">2025-11-24T06:33:36Z</dcterms:modified>
</cp:coreProperties>
</file>